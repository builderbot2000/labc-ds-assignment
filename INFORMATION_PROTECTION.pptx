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3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44807-0CAB-4F24-896B-6A11959D2664}" v="1" dt="2026-04-28T19:43:11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114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servicedesk@leg.bc.ca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C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941294" y="-1281953"/>
            <a:ext cx="5486400" cy="5486400"/>
          </a:xfrm>
          <a:prstGeom prst="ellipse">
            <a:avLst/>
          </a:prstGeom>
          <a:solidFill>
            <a:srgbClr val="0076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INFORMATION PROTECTION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How we label and protect our work.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 simpler classification system for everyone.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8E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Gabrielle Alves, ITD ·  Legislative Assembly  ·  v1.0</a:t>
            </a:r>
            <a:endParaRPr lang="en-US" sz="120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703CF06-AB89-C979-146B-38E6AAB56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8469" y="3128712"/>
            <a:ext cx="3143531" cy="37382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old labels were confusing.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So most people never used them.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212080" cy="6400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bg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BEFORE  ·  Microsoft defaults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12+ options to pick from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✘"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General  vs  Public — what's the difference?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✘"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Confidential / All Employees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✘"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Confidential / Anyone (not protected)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✘"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Confidential / Trusted People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✘"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Highly Confidential / All Employees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✘"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Highly Confidential / Specific People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2120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7E8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212080" cy="640080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492240" y="2359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AFTER  ·  Our new schema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4 simple labels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83680" y="3657600"/>
            <a:ext cx="274320" cy="274320"/>
          </a:xfrm>
          <a:prstGeom prst="ellipse">
            <a:avLst/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99516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0" y="42062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995160" y="4160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Internal  (default)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0" y="47548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995160" y="4709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83680" y="530352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995160" y="5257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5743685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One question. One label. No sub-labels.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2 / 23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FOUR LABELS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This is the entire taxonomy.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440180" y="1965960"/>
            <a:ext cx="640080" cy="640080"/>
          </a:xfrm>
          <a:prstGeom prst="ellipse">
            <a:avLst/>
          </a:prstGeom>
          <a:solidFill>
            <a:srgbClr val="DCEEE3"/>
          </a:solidFill>
          <a:ln w="25400">
            <a:solidFill>
              <a:srgbClr val="0F7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577340" y="2103120"/>
            <a:ext cx="365760" cy="365760"/>
          </a:xfrm>
          <a:prstGeom prst="ellipse">
            <a:avLst/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Anyone, inside or outside.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Published Hansard transcripts</a:t>
            </a:r>
            <a:r>
              <a:rPr lang="en-US" sz="13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, media releases, </a:t>
            </a:r>
            <a:r>
              <a:rPr lang="en-US" sz="1300" i="1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Assembly website</a:t>
            </a:r>
            <a:r>
              <a:rPr lang="en-US" sz="13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 content.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4864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CEEE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31520" y="5486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 encryption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5448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320540" y="1965960"/>
            <a:ext cx="640080" cy="64008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457700" y="21031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33756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Internal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2044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Anyone with an Assembly account.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40233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42976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Team meeting </a:t>
            </a:r>
            <a:r>
              <a:rPr lang="en-US" sz="13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notes, </a:t>
            </a:r>
            <a:r>
              <a:rPr lang="en-US" sz="1300" i="1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IT </a:t>
            </a:r>
            <a:r>
              <a:rPr lang="en-US" sz="13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project plans, </a:t>
            </a:r>
            <a:r>
              <a:rPr lang="en-US" sz="1300" i="1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internal training materials</a:t>
            </a:r>
            <a:r>
              <a:rPr lang="en-US" sz="13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11880" y="54864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611880" y="5486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 encryption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7200900" y="1965960"/>
            <a:ext cx="640080" cy="64008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7338060" y="21031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21792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Specific teams or named guests.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40233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2976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Staff performance reviews, vendor contracts, draft budgets.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54864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6492240" y="5486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Encrypted automatically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098280" y="155448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10081260" y="1965960"/>
            <a:ext cx="640080" cy="640080"/>
          </a:xfrm>
          <a:prstGeom prst="ellipse">
            <a:avLst/>
          </a:prstGeom>
          <a:solidFill>
            <a:srgbClr val="FEE4E2"/>
          </a:solidFill>
          <a:ln w="254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10218420" y="210312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909828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281160" y="3246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Named individuals only.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81160" y="40233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81160" y="42976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Closed-door committee sessions, legal opinions, leadership briefing notes.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372600" y="54864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EE4E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9372600" y="5486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Encrypted + DRM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3 / 23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5C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ASK ONE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Who should be able to open this?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137160" cy="640080"/>
          </a:xfrm>
          <a:prstGeom prst="rect">
            <a:avLst/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691640" y="3017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Anyone, even outside the Assembly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3017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7804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94760"/>
            <a:ext cx="94183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371600" y="3794760"/>
            <a:ext cx="13716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691640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Anyone with an Assembly account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3794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INTERNAL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21240" y="3794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default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4572000"/>
            <a:ext cx="94183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1371600" y="4572000"/>
            <a:ext cx="13716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691640" y="4572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Only my team or named partners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572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78040" y="4572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71600" y="5349240"/>
            <a:ext cx="94183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1371600" y="5349240"/>
            <a:ext cx="137160" cy="64008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69164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Only specific named people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5349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630129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Not sure? Pick INTERNAL. You can always upgrade later.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4 / 23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STILL UNSURE?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Ask: what HARM if this leaked?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This is the Assembly's own framework. When you can't decide, ask what would happen if it leaked.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 HARM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74085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Already public.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 damage if it leaks.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↓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512064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DCEEE3"/>
          </a:solidFill>
          <a:ln w="12700">
            <a:solidFill>
              <a:srgbClr val="0F7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429000" y="1920240"/>
            <a:ext cx="2423160" cy="502920"/>
          </a:xfrm>
          <a:prstGeom prst="roundRect">
            <a:avLst>
              <a:gd name="adj" fmla="val 9091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SOME HARM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874085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Embarrassment.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Internal-only context leaking.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Minor friction.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4572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611880" y="512064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611880" y="51206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INTERNAL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6309360" y="1920240"/>
            <a:ext cx="2423160" cy="640080"/>
          </a:xfrm>
          <a:prstGeom prst="roundRect">
            <a:avLst>
              <a:gd name="adj" fmla="val 714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SERIOUS HARM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874085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Material harm to individuals.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Financial or contractual loss.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Loss of stakeholder trust.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4572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↓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492240" y="512064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492240" y="51206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98280" y="182880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9189720" y="1920240"/>
            <a:ext cx="2423160" cy="777240"/>
          </a:xfrm>
          <a:prstGeom prst="roundRect">
            <a:avLst>
              <a:gd name="adj" fmla="val 5882"/>
            </a:avLst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9189720" y="19202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EXTREMELY GRAVE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81160" y="2874085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Material harm to people.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Loss of legal privilege.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Life safety. Institutional integrity.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98280" y="4572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↓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372600" y="512064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FEE4E2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9372600" y="51206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5 / 23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IF YOU'VE WORKED WITH BC GOVERNMENT DOCUMENTS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Same logic. Different names.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If you've labeled BC Gov documents before, the mental model is similar but apply our rules to Assembly content.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BC GOVERNMENT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  ·  Protected A  ·  B  ·  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  Harm-based scale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  Government-wide standard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  Ministry classification regime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  Generic government language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309360" y="2057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LEGISLATIVE ASSEMBLY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  ·  Internal  ·  Confidential  ·  Restricted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3200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  Same harm-based thinking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703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  Our own framework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  Non-partisan, Assembly-specific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4709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•  Audience-first names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9436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D7E8E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Bottom line: apply the Assembly's labels to Assembly content. Don't carry over Protected A/B/C names from BC Gov work.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6 / 23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5C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SECOND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kind of data is this?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parent label answers WHO can see it. The descriptor answers WHAT KIND of data it is.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4754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PARENT LABEL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Who can see it?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88720" y="4206240"/>
            <a:ext cx="182880" cy="182880"/>
          </a:xfrm>
          <a:prstGeom prst="ellipse">
            <a:avLst/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46304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Public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4517136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463040" y="4471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Internal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482803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463040" y="4782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Confidential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8720" y="5138928"/>
            <a:ext cx="182880" cy="18288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463040" y="5093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Restricted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4023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+</a:t>
            </a:r>
            <a:endParaRPr lang="en-US" sz="6000" dirty="0"/>
          </a:p>
        </p:txBody>
      </p:sp>
      <p:sp>
        <p:nvSpPr>
          <p:cNvPr id="18" name="Shape 16"/>
          <p:cNvSpPr/>
          <p:nvPr/>
        </p:nvSpPr>
        <p:spPr>
          <a:xfrm>
            <a:off x="6492240" y="3108960"/>
            <a:ext cx="4754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675120" y="3291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DESCRIPTOR  ·  SUB-LABEL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611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kind of data?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416052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People · Proceedings · Legal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Commercial · Audit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Security · Member Support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Descriptors apply only to Confidential and Restricted. The same list works for both.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7 / 23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EIGHT DESCRIPTORS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Pick the descriptor that best matches the content.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Most documents will get this auto-suggested. You usually just confirm.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685800" y="2075688"/>
            <a:ext cx="164592" cy="164592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960120" y="1984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People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36183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Is this about an identifiable person?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475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1761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Employee files, hiring records, contact lists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78308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611880" y="2075688"/>
            <a:ext cx="164592" cy="164592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886200" y="1984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Proceedings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236183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Committee or pre-tabling material?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9475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1761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Closed-door committee records, draft meeting minutes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78308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6537960" y="2075688"/>
            <a:ext cx="164592" cy="164592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812280" y="1984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Legal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236183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Counsel advice or privileged?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29475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1761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Legal advice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privileged communications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dispute files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35440" y="178308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9464040" y="2075688"/>
            <a:ext cx="164592" cy="164592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9738360" y="1984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Commercial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64040" y="236183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Live procurement or vendor pricing?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64040" y="29475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64040" y="31761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Procurement proposals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bid evaluations, vendor contracts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being negotiated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685800" y="4407408"/>
            <a:ext cx="164592" cy="164592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96012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Financial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85800" y="467562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Routine financial records?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5261383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5489983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Budgets, invoices, expense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claims, receipts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financial statements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83280" y="411480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3611880" y="4407408"/>
            <a:ext cx="164592" cy="164592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388620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Audit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3611880" y="467562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An audit, review, or investigation finding?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11880" y="5261383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11880" y="5489983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Audit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reports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compliance reviews, internal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investigation findings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411480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6537960" y="4407408"/>
            <a:ext cx="164592" cy="164592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681228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Security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537960" y="467562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Would leaking it help someone attack us?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37960" y="5261383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37960" y="5489982"/>
            <a:ext cx="2377440" cy="6866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Network diagrams, threat assessments, continuity plans, incident reports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235440" y="4114800"/>
            <a:ext cx="2788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9" name="Shape 47"/>
          <p:cNvSpPr/>
          <p:nvPr/>
        </p:nvSpPr>
        <p:spPr>
          <a:xfrm>
            <a:off x="9464040" y="4407408"/>
            <a:ext cx="164592" cy="164592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973836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Member Support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9464040" y="467562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 service provided directly to MLAs?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464040" y="5261383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EXAMPLES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464040" y="5489983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MLA 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office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staffing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travel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arrangements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research requests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constituency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files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8 / 23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914400" cy="914400"/>
          </a:xfrm>
          <a:prstGeom prst="ellipse">
            <a:avLst/>
          </a:prstGeom>
          <a:solidFill>
            <a:srgbClr val="DCEEE3"/>
          </a:solidFill>
          <a:ln w="38100">
            <a:solidFill>
              <a:srgbClr val="0F7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457200" cy="457200"/>
          </a:xfrm>
          <a:prstGeom prst="ellipse">
            <a:avLst/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55448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544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Safe to share with anyone, inside or outside the Assembly.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1"/>
            <a:ext cx="3657600" cy="32147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48640" y="2560321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2560321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USE FOR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99013"/>
            <a:ext cx="3291840" cy="1927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Published reports and approved media releases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Material already on the public Assembly website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Public job postings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Recordings of proceedings already broadcast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Public-facing visitor information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468881"/>
            <a:ext cx="3657600" cy="32147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389120" y="2560321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389120" y="2560321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HAPPENS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299013"/>
            <a:ext cx="3291840" cy="1927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 encryption applied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 content marking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External sharing allowed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Copilot can quote freely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 DLP blocks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1"/>
            <a:ext cx="3566160" cy="3214744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229600" y="2560321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3B444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229600" y="2560321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 NOT USE FOR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299013"/>
            <a:ext cx="3200400" cy="1927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Drafts of public content (use Internal)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Anything not yet approved for release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Anything containing PII or financial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9 / 23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49539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DEFAULT LABEL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45780"/>
            <a:ext cx="914400" cy="914400"/>
          </a:xfrm>
          <a:prstGeom prst="ellipse">
            <a:avLst/>
          </a:prstGeom>
          <a:solidFill>
            <a:srgbClr val="DBEAFE"/>
          </a:solidFill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" y="11743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554480" y="9000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B82F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Internal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54480" y="14487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Anyone at the Assembly can open this. External people cannot.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75560"/>
            <a:ext cx="3657600" cy="315199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48640" y="266700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2667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USE FOR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59480"/>
            <a:ext cx="3291840" cy="1909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Meeting notes and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call 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transcripts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Project plans, work plans, schedules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Internal training materials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IT development 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notes for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internal systems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Status reports and team updates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575560"/>
            <a:ext cx="3657600" cy="315199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389120" y="266700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389120" y="2667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HAPPENS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459480"/>
            <a:ext cx="3291840" cy="1909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 encryption (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keeps 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guest collaboration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working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External email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asks you to confirm before sending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External file sharing blocked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automatically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AI assistant 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can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reference this content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Logged for audit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575560"/>
            <a:ext cx="3566160" cy="3151991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229600" y="2667000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3B444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229600" y="2667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 NOT USE FOR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459480"/>
            <a:ext cx="3200400" cy="1909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Anything with personal info, payment data, or HR records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Draft reports or financials not yet published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Vendor contracts being negotiated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Closed-door proceedings or legally privileged content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10 / 23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711084"/>
            <a:ext cx="914400" cy="914400"/>
          </a:xfrm>
          <a:prstGeom prst="ellipse">
            <a:avLst/>
          </a:prstGeom>
          <a:solidFill>
            <a:srgbClr val="FEF3C7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" y="9396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554480" y="66536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54480" y="121400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Only people on the named team or guest list can open this. The file is encrypted.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4058"/>
            <a:ext cx="3657600" cy="332160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48640" y="2515498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251549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USE FOR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81084"/>
            <a:ext cx="3291840" cy="23397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HR records (HR team + affected manager)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Vendor contracts being negotiated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Draft policy and operational documents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Financial documents before they're published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Source code for internally built systems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Audit findings and incident reports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424058"/>
            <a:ext cx="3657600" cy="332160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389120" y="2515498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389120" y="251549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HAPPENS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281084"/>
            <a:ext cx="3291840" cy="23397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Automatically encrypted, limited to your audience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Watermark and header applied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External sharing only with named guests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Anonymous links blocked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AI assistant marks its responses as Confidential too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Email to anyone outside the audience is blocked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424058"/>
            <a:ext cx="3566160" cy="3321603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229600" y="2515498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3B444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229600" y="251549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 NOT USE FOR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281084"/>
            <a:ext cx="3200400" cy="23397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Routine internal work (use Internal</a:t>
            </a:r>
            <a:r>
              <a:rPr lang="en-US" sz="120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instead</a:t>
            </a: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Anything you intend to publish externally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Highly sensitive content limited to specific named people</a:t>
            </a: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(use Restricted)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11 / 23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900684"/>
            <a:ext cx="914400" cy="914400"/>
          </a:xfrm>
          <a:prstGeom prst="ellipse">
            <a:avLst/>
          </a:prstGeom>
          <a:solidFill>
            <a:srgbClr val="FEE4E2"/>
          </a:solidFill>
          <a:ln w="381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" y="1129284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554480" y="85496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54480" y="140360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Only the named people listed below can open this. No forward, print, copy, or screenshot.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82506"/>
            <a:ext cx="3657600" cy="33924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48640" y="2573946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257394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USE FOR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14026"/>
            <a:ext cx="3291840" cy="2465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Closed-door committee proceedings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Senior leadership briefings, confidential minutes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Personnel reorganization plans (before announcement)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Senior staff compensation data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Active security incident response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Privileged legal communications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Draft reports and budgets before they're published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482506"/>
            <a:ext cx="3657600" cy="33924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389120" y="2573946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389120" y="257394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HAPPENS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214026"/>
            <a:ext cx="3291840" cy="2465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Encrypted — only the people you name can open it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Cannot be forwarded, printed, copied, or screen-captured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Watermark shows YOUR identity (a screenshot leaks the leaker)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External sharing entirely blocked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AI assistant cannot access or reference this content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 option to override — no exceptions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482506"/>
            <a:ext cx="3566160" cy="3392424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8229600" y="2573946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3B444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229600" y="257394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DO NOT USE FOR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214026"/>
            <a:ext cx="3200400" cy="2465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Sensitive but routine work (use Confidential instead)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Content shared with a whole team or department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✘"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Anything that needs external co-authoring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12 / 23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AUTOMATIC PROTECTION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system</a:t>
            </a: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 does most of the work for you.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These protections happen automatically once you pick a label. You don't configure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Files are encrypted in place. The file stays encrypted on USB, </a:t>
            </a:r>
            <a:r>
              <a:rPr lang="en-US" sz="130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</a:t>
            </a: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email, or anywhere it travels.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Applies to: Confidential, Restricted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1688" y="1828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4361688" y="196596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636008" y="2103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63600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30368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Watermark </a:t>
            </a:r>
            <a:r>
              <a:rPr lang="en-US" sz="1600" b="1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and</a:t>
            </a:r>
            <a:r>
              <a:rPr lang="en-US" sz="16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 header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36008" y="26974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Document gets a visible "Confidential" or "Restricted" watermark and header automatically.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36008" y="3520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Applies to: Confidential, Restricted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1828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8266176" y="1965960"/>
            <a:ext cx="73152" cy="1828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8540496" y="2103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854049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34856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External sharing block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0496" y="26974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Email or file sharing to people outside the audience is blocked automatically.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40496" y="3520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B82F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Applies to: Internal (prompt), Confidential, Restricted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73152" cy="18288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4389120"/>
            <a:ext cx="23227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 </a:t>
            </a:r>
            <a:r>
              <a:rPr lang="en-US" sz="16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forward / print / copy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49834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Recipients of Restricted content cannot forward, print, copy, or screen-capture.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806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Applies to: Restricted only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61688" y="4114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4361688" y="4251960"/>
            <a:ext cx="73152" cy="1828800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4636008" y="4389120"/>
            <a:ext cx="457200" cy="45720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4636008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230368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AI content</a:t>
            </a:r>
            <a:r>
              <a:rPr lang="en-US" sz="16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 scoping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36008" y="49834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AI responses </a:t>
            </a:r>
            <a:r>
              <a:rPr lang="en-US" sz="130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automatically get </a:t>
            </a: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highest label from any </a:t>
            </a:r>
            <a:r>
              <a:rPr lang="en-US" sz="130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content </a:t>
            </a: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they </a:t>
            </a:r>
            <a:r>
              <a:rPr lang="en-US" sz="130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pull from</a:t>
            </a: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36008" y="5806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Applies to: All labels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66176" y="4114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8266176" y="4251960"/>
            <a:ext cx="73152" cy="1828800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8540496" y="4389120"/>
            <a:ext cx="457200" cy="45720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8540496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134856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Audit logging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40496" y="49834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Every label change, share attempt, and access is logged for compliance and investigation.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40496" y="5806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Applies to: All labels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13 / 23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USER RESPONSIBILITY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you still need to do yourself.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Purview can't enforce these. They're up to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" cy="54864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Pick the right label when it isn't obvious. Ask your manager or ITD when in doubt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48640" cy="54864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1920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Don't share your screen with external attendees if Confidential content is open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971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Don't display Confidential content on your laptop in a public space without a privacy filter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971800"/>
            <a:ext cx="548640" cy="54864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21792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2971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Collect printed Confidential output from the printer immediately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023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Don't take printed Confidential or Restricted content off-site without explicit business need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023360"/>
            <a:ext cx="548640" cy="54864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2179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4023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Use the secure shred bin for any printed Confidential or Restricted material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548640" cy="54864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5720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5074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Lock your screen when you step away. Even at the office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5074920"/>
            <a:ext cx="548640" cy="54864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21792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49440" y="5074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Report any incident or suspected leak immediately to the security team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14 / 23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SCENARIO 1  ·  </a:t>
            </a:r>
            <a:r>
              <a:rPr lang="en-US" sz="1200" b="1" kern="0" spc="40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EMPLOYEE DATA</a:t>
            </a: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 IN A SPREADSHEET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You have a </a:t>
            </a:r>
            <a:r>
              <a:rPr lang="en-US" sz="3400" b="1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spreadsheet </a:t>
            </a: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of </a:t>
            </a:r>
            <a:r>
              <a:rPr lang="en-US" sz="3400" b="1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employee records</a:t>
            </a: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9436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57200"/>
          </a:xfrm>
          <a:prstGeom prst="roundRect">
            <a:avLst>
              <a:gd name="adj" fmla="val 8000"/>
            </a:avLst>
          </a:prstGeom>
          <a:solidFill>
            <a:srgbClr val="3B444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HR is updating the annual benefits enrollment. The spreadsheet has 200 rows: employee name, date of birth, home address, salary band, and benefits elections.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You need to share it with the HR team and with the external benefits provider.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Which label should you apply?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766560" y="1645920"/>
            <a:ext cx="484632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76656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RIGHT LABEL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237744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873252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8869680" y="27432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675120" y="3931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 — PEOPLE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0" y="45720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Personal data at scale = serious harm if leaked.</a:t>
            </a:r>
            <a:endParaRPr lang="en-US" sz="1200"/>
          </a:p>
          <a:p>
            <a:pPr marL="0" indent="0" algn="ctr">
              <a:buNone/>
            </a:pPr>
            <a:endParaRPr lang="en-US" sz="1200"/>
          </a:p>
          <a:p>
            <a:pPr marL="0" indent="0" algn="ctr">
              <a:buNone/>
            </a:pPr>
            <a:r>
              <a:rPr lang="en-US" sz="1200" i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 encrypts the file so only the HR team and the named benefits provider contact can open it. The People descriptor flags this as personal data </a:t>
            </a:r>
            <a:r>
              <a:rPr lang="en-US" sz="1200" i="1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—</a:t>
            </a:r>
            <a:r>
              <a:rPr lang="en-US" sz="1200" i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 the system will likely suggest both for you.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15 / 23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SCENARIO 2  ·  SHARING A </a:t>
            </a:r>
            <a:r>
              <a:rPr lang="en-US" sz="1200" b="1" kern="0" spc="40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LEGAL OPINION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You need to </a:t>
            </a:r>
            <a:r>
              <a:rPr lang="en-US" sz="3400" b="1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share </a:t>
            </a: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 </a:t>
            </a:r>
            <a:r>
              <a:rPr lang="en-US" sz="3400" b="1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legal opinion with senior leadership</a:t>
            </a: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9436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57200"/>
          </a:xfrm>
          <a:prstGeom prst="roundRect">
            <a:avLst>
              <a:gd name="adj" fmla="val 8000"/>
            </a:avLst>
          </a:prstGeom>
          <a:solidFill>
            <a:srgbClr val="3B444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Assembly's legal team has prepared an opinion on 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 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procurement dispute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. 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Three senior leaders need 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to review it 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before 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next steps are decided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One of the senior leaders is travelling and will access it from 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their 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mobile device.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Which label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should 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you 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apply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766560" y="1645920"/>
            <a:ext cx="484632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76656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RIGHT LABEL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237744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873252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8869680" y="27432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675120" y="3931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 — LEGAL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0" y="45720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Apply Confidential — Legal. </a:t>
            </a:r>
            <a:r>
              <a:rPr lang="en-US" sz="1200" i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three senior leaders already have Assembly accounts, so they're in the audience automatically.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file stays encrypted everywhere, including on mobile. They sign in to open it. Anonymous link sharing is blocked. The Legal descriptor flags this as legally privileged work.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16 / 23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SCENARIO 3  ·  SENIOR LEADERSHIP </a:t>
            </a:r>
            <a:r>
              <a:rPr lang="en-US" sz="1200" b="1" kern="0" spc="40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You're building the deck for next month's senior leadership meeting.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9436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57200"/>
          </a:xfrm>
          <a:prstGeom prst="roundRect">
            <a:avLst>
              <a:gd name="adj" fmla="val 8000"/>
            </a:avLst>
          </a:prstGeom>
          <a:solidFill>
            <a:srgbClr val="3B444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deck includes draft Q4 financials (not yet </a:t>
            </a:r>
            <a:r>
              <a:rPr lang="en-US" sz="14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published</a:t>
            </a: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), an update on a confidential committee proceeding, and a slide on a senior staffing change planned for next month.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Five senior leaders will read it. No one else.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Which label should you apply?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FEE4E2"/>
          </a:solidFill>
          <a:ln w="25400">
            <a:solidFill>
              <a:srgbClr val="D9534F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766560" y="1645920"/>
            <a:ext cx="4846320" cy="457200"/>
          </a:xfrm>
          <a:prstGeom prst="roundRect">
            <a:avLst>
              <a:gd name="adj" fmla="val 8000"/>
            </a:avLst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76656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RIGHT LABEL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2377440"/>
            <a:ext cx="1371600" cy="137160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873252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8869680" y="2743200"/>
            <a:ext cx="640080" cy="64008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675120" y="3931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0" y="45720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Five named individuals. Unpublished financial information. Confidential committee context. Sensitive personnel details.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 blocks forwarding, printing, and screenshots. The AI assistant cannot access this content. The watermark shows the opener's identity. </a:t>
            </a:r>
            <a:r>
              <a:rPr lang="en-US" sz="1200" b="1" i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Recommended descriptor: Restricted — Proceedings.</a:t>
            </a:r>
            <a:endParaRPr lang="en-US" sz="1200" b="1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17 / 23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COPILOT + LABELS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Copilot follows your access, with one exception.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5995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If you can already open the document, the AI assistant can use it. The one rule worth knowing is below.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  ·  INTERNAL  ·  CONFIDENTIAL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Copilot uses normally.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If you have access to a document, Copilot can reference it.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AI assistant's response automatically gets the highest label of the documents it pulled from, so a response built from Confidential content is itself Confidential and won't go external.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EE4E2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1C1C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1C1C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Excluded entirely.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Copilot will not access, summarize, or quote Restricted content, even for users who have access.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Why: an AI-generated answer built from Restricted content would no longer be protected. The watermark, no-print, no-forward rules can't follow into a generated response.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18 / 23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EXTERNAL SHARING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changes when you share outside the Assembly.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solidFill>
            <a:srgbClr val="3B444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194560" cy="457200"/>
          </a:xfrm>
          <a:prstGeom prst="rect">
            <a:avLst/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20040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463040"/>
            <a:ext cx="21945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39496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Internal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463040"/>
            <a:ext cx="219456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58952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784080" y="1463040"/>
            <a:ext cx="2194560" cy="457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78408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2743200" cy="1417320"/>
          </a:xfrm>
          <a:prstGeom prst="rect">
            <a:avLst/>
          </a:prstGeom>
          <a:solidFill>
            <a:srgbClr val="F2F3F4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94360" y="1920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Email to an external person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1920240"/>
            <a:ext cx="2194560" cy="1417320"/>
          </a:xfrm>
          <a:prstGeom prst="rect">
            <a:avLst/>
          </a:prstGeom>
          <a:solidFill>
            <a:srgbClr val="DCEEE3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291840" y="201168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Just sends.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4960" y="1920240"/>
            <a:ext cx="219456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486400" y="201168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You see a one-click justification prompt. Click and send.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89520" y="1920240"/>
            <a:ext cx="219456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680960" y="201168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Blocked unless they're added to the audience first.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2194560" cy="1417320"/>
          </a:xfrm>
          <a:prstGeom prst="rect">
            <a:avLst/>
          </a:prstGeom>
          <a:solidFill>
            <a:srgbClr val="FEE4E2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9875520" y="201168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Blocked entirely. No exceptions.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2743200" cy="1417320"/>
          </a:xfrm>
          <a:prstGeom prst="rect">
            <a:avLst/>
          </a:prstGeom>
          <a:solidFill>
            <a:srgbClr val="F2F3F4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94360" y="333756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Anonymous SharePoint / OneDrive link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0" y="3337560"/>
            <a:ext cx="2194560" cy="1417320"/>
          </a:xfrm>
          <a:prstGeom prst="rect">
            <a:avLst/>
          </a:prstGeom>
          <a:solidFill>
            <a:srgbClr val="DCEEE3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3291840" y="342900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Allowed.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337560"/>
            <a:ext cx="219456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5486400" y="342900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Blocked.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89520" y="3337560"/>
            <a:ext cx="219456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7680960" y="342900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Blocked.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784080" y="3337560"/>
            <a:ext cx="2194560" cy="1417320"/>
          </a:xfrm>
          <a:prstGeom prst="rect">
            <a:avLst/>
          </a:prstGeom>
          <a:solidFill>
            <a:srgbClr val="FEE4E2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9875520" y="342900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Blocked.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2743200" cy="1417320"/>
          </a:xfrm>
          <a:prstGeom prst="rect">
            <a:avLst/>
          </a:prstGeom>
          <a:solidFill>
            <a:srgbClr val="F2F3F4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94360" y="475488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Co-author with a partner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00400" y="4754880"/>
            <a:ext cx="2194560" cy="1417320"/>
          </a:xfrm>
          <a:prstGeom prst="rect">
            <a:avLst/>
          </a:prstGeom>
          <a:solidFill>
            <a:srgbClr val="DCEEE3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3291840" y="48463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Just works.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394960" y="4754880"/>
            <a:ext cx="219456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5486400" y="48463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Blocked. Use Confidential instead.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589520" y="4754880"/>
            <a:ext cx="219456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7680960" y="48463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Allowed. Add the partner as a named guest first.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784080" y="4754880"/>
            <a:ext cx="2194560" cy="1417320"/>
          </a:xfrm>
          <a:prstGeom prst="rect">
            <a:avLst/>
          </a:prstGeom>
          <a:solidFill>
            <a:srgbClr val="FEE4E2"/>
          </a:solidFill>
          <a:ln w="12700">
            <a:solidFill>
              <a:srgbClr val="E0E0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9875520" y="48463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Not supported. Restricted is for named individuals only.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19 / 23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AUTO-LABELING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The system suggests labels for you.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For most documents, you won't have to choose. You'll just confirm.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9418320" cy="14630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691640" y="23774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69164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!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9748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Suggested label: Confidential — People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97480" y="2606040"/>
            <a:ext cx="7315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This document looks like it should </a:t>
            </a:r>
            <a:r>
              <a:rPr lang="en-US" sz="1300" b="1" dirty="0">
                <a:solidFill>
                  <a:srgbClr val="1A1A1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be Confidential — People </a:t>
            </a: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because it contains 47 SINs and 12 personal records. The People descriptor flags this as personal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305517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955280" y="305517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Apply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305517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144000" y="305517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Choose another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What triggers a suggestion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Credit card numbers, SINs, or national IDs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→ Suggests Confidential — People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0974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914400" y="47640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10+ PII matches (names + emails + addresses)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47640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→ Suggests Confidential — People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13892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14400" y="50932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Budget, invoice, or expense report patterns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5093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→ Suggests Confidential — Financial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914400" y="54223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API keys, secrets, or connection strings in 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5422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→ Suggests Confidential — Security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797296"/>
            <a:ext cx="182880" cy="18288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914400" y="575157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 camera, privileged, or pre-tabling keywords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57515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→ Suggests Restricted — Proceedings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612648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914400" y="6080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File saved in HR site library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6080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→ Auto-applies Confidential — People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20 / 23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AVOID THESE MISTAKES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Common mistakes </a:t>
            </a:r>
            <a:r>
              <a:rPr lang="en-US" sz="32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and what to do instead.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EE4E2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Labeling everything Confidential just to be safe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DCEEE3"/>
          </a:solidFill>
          <a:ln w="12700">
            <a:solidFill>
              <a:srgbClr val="0F7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12280" y="14630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Use Internal as your default. Confidential blocks mobile preview and forces naming the partner for co-authoring, it is too restrictive for routine work.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EE4E2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94360" y="25146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Downgrading a label to make sharing easier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42316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DCEEE3"/>
          </a:solidFill>
          <a:ln w="12700">
            <a:solidFill>
              <a:srgbClr val="0F7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12280" y="24231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If you need to downgrade, the system will ask you to justify it. Better: add the recipient to the audience instead.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EE4E2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51560" y="33832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Using Restricted for any sensitive document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3832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DCEEE3"/>
          </a:solidFill>
          <a:ln w="12700">
            <a:solidFill>
              <a:srgbClr val="0F7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355080" y="34747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33832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Restricted is for named-individual content with extreme harm potential: closed-door proceedings, senior leadership briefings. Use Confidential for sensitive team work.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EE4E2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94360" y="443484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✗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51560" y="43434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Showing 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Restricted content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on screen during a call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3434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DCEEE3"/>
          </a:solidFill>
          <a:ln w="12700">
            <a:solidFill>
              <a:srgbClr val="0F7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355080" y="443484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12280" y="43434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Restricted content shouldn't be visible during meetings with external attendees. The watermark identifies who leaked it.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3035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EE4E2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594360" y="53949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✗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5156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Dismissing 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the 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label </a:t>
            </a:r>
            <a:r>
              <a:rPr lang="en-US" sz="12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suggestion</a:t>
            </a:r>
            <a:r>
              <a:rPr lang="en-US" sz="12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without checking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3035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DCEEE3"/>
          </a:solidFill>
          <a:ln w="12700">
            <a:solidFill>
              <a:srgbClr val="0F7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355080" y="53949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✓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1228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If the system flags a document as Confidential, there's a good reason (</a:t>
            </a:r>
            <a:r>
              <a:rPr lang="en-US" sz="13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personal data</a:t>
            </a: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</a:t>
            </a:r>
            <a:r>
              <a:rPr lang="en-US" sz="13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passwords</a:t>
            </a: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, financial </a:t>
            </a:r>
            <a:r>
              <a:rPr lang="en-US" sz="130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records</a:t>
            </a:r>
            <a:r>
              <a:rPr lang="en-US" sz="13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). Confirm rather than override.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21 / 23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5C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D7E8EA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Save this. Print it. Pin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94183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How to label your document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Ask one question: WHO SHOULD BE ABLE TO OPEN THIS?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2788920"/>
            <a:ext cx="274320" cy="274320"/>
          </a:xfrm>
          <a:prstGeom prst="ellipse">
            <a:avLst/>
          </a:prstGeom>
          <a:solidFill>
            <a:srgbClr val="0F7A5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468880" y="2697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Anyone, even outside the Assembly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26974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A5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PUBLIC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32918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2468880" y="3200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Anyone with an Assembly account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3200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INTERNAL  (default)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11680" y="37947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246888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Only my team or named partners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06640" y="3703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11680" y="429768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2468880" y="4206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Only specific named people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42062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5528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534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RESTRICTED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11680" y="493776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D7E8E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2194560" y="5029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Tiebreaker — what HARM if it leaked?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94560" y="5350135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None → Public      ·      Some → Internal      ·      Serious → Confidential      ·      Extremely grave → Restricted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94560" y="5688105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4447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Not sure? Pick INTERNAL. You can upgrade later.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E9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22 / 23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E91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QUESTIONS?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Where to get help.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Not sure which label to pick?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2423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Pick Internal and check with your manager/ITD. Upgrades are always fine. Downgrades require justification.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🛑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58952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Got blocked when sharing?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9520" y="2423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Check if the recipient is in the audience. For Confidential, add them as a named guest. For Internal, the prompt is one click.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822960" cy="82296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✎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4206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Found something labeled wrong?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28800" y="4709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Tell the document owner. They can change it. If they're external or unreachable, contact the IT helpdesk.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6583680" y="4206240"/>
            <a:ext cx="822960" cy="822960"/>
          </a:xfrm>
          <a:prstGeom prst="ellipse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!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589520" y="4206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C66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Suspect a leak or incident?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89520" y="4709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44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Contact the security team immediately. Don't try to recover it yourself. Speed matters more than completeness.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05C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Connect with </a:t>
            </a:r>
            <a:r>
              <a:rPr lang="en-US" sz="1300" dirty="0">
                <a:solidFill>
                  <a:schemeClr val="bg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servicedesk@leg.bc.ca</a:t>
            </a:r>
            <a:r>
              <a:rPr lang="en-US" sz="1300" dirty="0">
                <a:solidFill>
                  <a:schemeClr val="bg1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if you have questions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c20bea6-5135-414d-9d2e-6ef10872608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9FA4E6A8D0024BACEA169CE35CCBC6" ma:contentTypeVersion="13" ma:contentTypeDescription="Create a new document." ma:contentTypeScope="" ma:versionID="d918bd8f19448551916a3c756bb95fb6">
  <xsd:schema xmlns:xsd="http://www.w3.org/2001/XMLSchema" xmlns:xs="http://www.w3.org/2001/XMLSchema" xmlns:p="http://schemas.microsoft.com/office/2006/metadata/properties" xmlns:ns2="ac20bea6-5135-414d-9d2e-6ef108726086" xmlns:ns3="b9145408-af84-4a0e-80e1-a647d7b586f3" targetNamespace="http://schemas.microsoft.com/office/2006/metadata/properties" ma:root="true" ma:fieldsID="5ed1b8968be2d75dbdd8059209f46162" ns2:_="" ns3:_="">
    <xsd:import namespace="ac20bea6-5135-414d-9d2e-6ef108726086"/>
    <xsd:import namespace="b9145408-af84-4a0e-80e1-a647d7b586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20bea6-5135-414d-9d2e-6ef1087260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4471a21-dd60-41ac-aa73-f1af6aae35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45408-af84-4a0e-80e1-a647d7b586f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C546E1-851C-4B6C-91B1-35BDCB835475}">
  <ds:schemaRefs>
    <ds:schemaRef ds:uri="http://schemas.microsoft.com/office/2006/metadata/properties"/>
    <ds:schemaRef ds:uri="http://schemas.microsoft.com/office/infopath/2007/PartnerControls"/>
    <ds:schemaRef ds:uri="c59e1f20-ca21-4783-98bb-06ca3a9d8ba5"/>
    <ds:schemaRef ds:uri="ec268011-4b26-4b06-b29e-b228d7d3ea0c"/>
  </ds:schemaRefs>
</ds:datastoreItem>
</file>

<file path=customXml/itemProps2.xml><?xml version="1.0" encoding="utf-8"?>
<ds:datastoreItem xmlns:ds="http://schemas.openxmlformats.org/officeDocument/2006/customXml" ds:itemID="{CF224EF8-1727-4954-ACD2-939675F3CE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1AD5BC-65D9-4C5E-ADB7-6B017C0EE9ED}"/>
</file>

<file path=docMetadata/LabelInfo.xml><?xml version="1.0" encoding="utf-8"?>
<clbl:labelList xmlns:clbl="http://schemas.microsoft.com/office/2020/mipLabelMetadata">
  <clbl:label id="{f7480188-3555-45e5-afe4-4a7186dbdff4}" enabled="1" method="Privileged" siteId="{68f96eb1-b954-4ae9-ab6a-9a513408ba4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2701</Words>
  <Application>Microsoft Macintosh PowerPoint</Application>
  <PresentationFormat>Widescreen</PresentationFormat>
  <Paragraphs>472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Open Sans ExtraBold</vt:lpstr>
      <vt:lpstr>Open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Protection — User Training</dc:title>
  <dc:subject>PptxGenJS Presentation</dc:subject>
  <dc:creator>Information Security</dc:creator>
  <cp:lastModifiedBy>Brent Lee</cp:lastModifiedBy>
  <cp:revision>2</cp:revision>
  <dcterms:created xsi:type="dcterms:W3CDTF">2026-04-28T19:20:45Z</dcterms:created>
  <dcterms:modified xsi:type="dcterms:W3CDTF">2026-06-02T14:15:15Z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480188-3555-45e5-afe4-4a7186dbdff4_Enabled">
    <vt:lpwstr>true</vt:lpwstr>
  </property>
  <property fmtid="{D5CDD505-2E9C-101B-9397-08002B2CF9AE}" pid="3" name="MSIP_Label_f7480188-3555-45e5-afe4-4a7186dbdff4_SetDate">
    <vt:lpwstr>2026-04-28T21:20:05Z</vt:lpwstr>
  </property>
  <property fmtid="{D5CDD505-2E9C-101B-9397-08002B2CF9AE}" pid="4" name="MSIP_Label_f7480188-3555-45e5-afe4-4a7186dbdff4_Method">
    <vt:lpwstr>Privileged</vt:lpwstr>
  </property>
  <property fmtid="{D5CDD505-2E9C-101B-9397-08002B2CF9AE}" pid="5" name="MSIP_Label_f7480188-3555-45e5-afe4-4a7186dbdff4_Name">
    <vt:lpwstr>Public (New)</vt:lpwstr>
  </property>
  <property fmtid="{D5CDD505-2E9C-101B-9397-08002B2CF9AE}" pid="6" name="MSIP_Label_f7480188-3555-45e5-afe4-4a7186dbdff4_SiteId">
    <vt:lpwstr>68f96eb1-b954-4ae9-ab6a-9a513408ba40</vt:lpwstr>
  </property>
  <property fmtid="{D5CDD505-2E9C-101B-9397-08002B2CF9AE}" pid="7" name="MSIP_Label_f7480188-3555-45e5-afe4-4a7186dbdff4_ActionId">
    <vt:lpwstr>4392f294-9243-475d-83a5-84b127e5ff92</vt:lpwstr>
  </property>
  <property fmtid="{D5CDD505-2E9C-101B-9397-08002B2CF9AE}" pid="8" name="MSIP_Label_f7480188-3555-45e5-afe4-4a7186dbdff4_ContentBits">
    <vt:lpwstr>0</vt:lpwstr>
  </property>
  <property fmtid="{D5CDD505-2E9C-101B-9397-08002B2CF9AE}" pid="9" name="MSIP_Label_f7480188-3555-45e5-afe4-4a7186dbdff4_Tag">
    <vt:lpwstr>10, 0, 1, 1</vt:lpwstr>
  </property>
  <property fmtid="{D5CDD505-2E9C-101B-9397-08002B2CF9AE}" pid="10" name="ContentTypeId">
    <vt:lpwstr>0x0101005D9FA4E6A8D0024BACEA169CE35CCBC6</vt:lpwstr>
  </property>
  <property fmtid="{D5CDD505-2E9C-101B-9397-08002B2CF9AE}" pid="11" name="MSIP_Label_defa4170-0d19-0005-0004-bc88714345d2_Enabled">
    <vt:lpwstr>true</vt:lpwstr>
  </property>
  <property fmtid="{D5CDD505-2E9C-101B-9397-08002B2CF9AE}" pid="12" name="MSIP_Label_defa4170-0d19-0005-0004-bc88714345d2_SetDate">
    <vt:lpwstr>2026-06-02T14:15:14Z</vt:lpwstr>
  </property>
  <property fmtid="{D5CDD505-2E9C-101B-9397-08002B2CF9AE}" pid="13" name="MSIP_Label_defa4170-0d19-0005-0004-bc88714345d2_Method">
    <vt:lpwstr>Standard</vt:lpwstr>
  </property>
  <property fmtid="{D5CDD505-2E9C-101B-9397-08002B2CF9AE}" pid="14" name="MSIP_Label_defa4170-0d19-0005-0004-bc88714345d2_Name">
    <vt:lpwstr>defa4170-0d19-0005-0004-bc88714345d2</vt:lpwstr>
  </property>
  <property fmtid="{D5CDD505-2E9C-101B-9397-08002B2CF9AE}" pid="15" name="MSIP_Label_defa4170-0d19-0005-0004-bc88714345d2_SiteId">
    <vt:lpwstr>8483c09d-2559-452b-be74-0f5320e8a2de</vt:lpwstr>
  </property>
  <property fmtid="{D5CDD505-2E9C-101B-9397-08002B2CF9AE}" pid="16" name="MSIP_Label_defa4170-0d19-0005-0004-bc88714345d2_ActionId">
    <vt:lpwstr>3195f965-b192-492e-a811-835fe18bb238</vt:lpwstr>
  </property>
  <property fmtid="{D5CDD505-2E9C-101B-9397-08002B2CF9AE}" pid="17" name="MSIP_Label_defa4170-0d19-0005-0004-bc88714345d2_ContentBits">
    <vt:lpwstr>0</vt:lpwstr>
  </property>
  <property fmtid="{D5CDD505-2E9C-101B-9397-08002B2CF9AE}" pid="18" name="MSIP_Label_defa4170-0d19-0005-0004-bc88714345d2_Tag">
    <vt:lpwstr>50, 3, 0, 1</vt:lpwstr>
  </property>
  <property fmtid="{D5CDD505-2E9C-101B-9397-08002B2CF9AE}" pid="19" name="MediaServiceImageTags">
    <vt:lpwstr/>
  </property>
</Properties>
</file>